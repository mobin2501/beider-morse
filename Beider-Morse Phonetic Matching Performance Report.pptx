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</ns0:sldIdLst>
  <ns0:sldSz cx="12192000" cy="6858000" type="screen4x3"/>
  <ns0:notesSz cx="6858000" cy="9144000"/>
  <ns0:embeddedFontLst>
    <ns0:embeddedFont>
      <ns0:font typeface="Inter"/>
      <ns0:bold ns1:id="rIdFont12"/>
      <ns0:regular ns1:id="rIdFont1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Font12" Type="http://schemas.openxmlformats.org/officeDocument/2006/relationships/font" Target="fonts/4e786bc2-e651-4e6e-96c5-64a9dc554b5b.fntdata"/><Relationship Id="rIdFont13" Type="http://schemas.openxmlformats.org/officeDocument/2006/relationships/font" Target="fonts/59390c59-e6ce-4452-bda2-9a7f74a174e1.fntdata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68436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135534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ALGORITHMIC EVALUATION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478434"/>
            <a:ext cx="91011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Inter"/>
              </a:rPr>
              <a:t>Beider-Morse Phonetic Matching: Evaluation &amp;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846165"/>
            <a:ext cx="6953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Inter"/>
              </a:rPr>
              <a:t>Benchmark analysis of precision and recall across name lengths 2–21 (1,000 names, 200 labeled queries).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62275"/>
            <a:ext cx="3505200" cy="1847850"/>
          </a:xfrm>
          <a:prstGeom prst="roundRect">
            <a:avLst>
              <a:gd name="adj" fmla="val 6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62275"/>
            <a:ext cx="3505200" cy="1847850"/>
          </a:xfrm>
          <a:prstGeom prst="roundRect">
            <a:avLst>
              <a:gd name="adj" fmla="val 6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62275"/>
            <a:ext cx="3505200" cy="1847850"/>
          </a:xfrm>
          <a:prstGeom prst="roundRect">
            <a:avLst>
              <a:gd name="adj" fmla="val 6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76600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276600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276600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Key Evaluation Highlights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695700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High Target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03860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Recall 89.3%, precision 94.7% and F1 91.9% across 200 benchmark queries.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695700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Length Sensitivity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403860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Recall rises from 71.4% on short names (2–4) to 98.0% on long names (15+).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695700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False Positive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403860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88.3% of negatives rejected; false matches come from 2-letter and compound names.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47975"/>
            <a:ext cx="5334000" cy="2076450"/>
          </a:xfrm>
          <a:prstGeom prst="roundRect">
            <a:avLst>
              <a:gd name="adj" fmla="val 7339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47975"/>
            <a:ext cx="5334000" cy="2076450"/>
          </a:xfrm>
          <a:prstGeom prst="roundRect">
            <a:avLst>
              <a:gd name="adj" fmla="val 73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Benchmark Dataset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1006" y="3238500"/>
            <a:ext cx="5691187" cy="733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2563EB"/>
                </a:solidFill>
                <a:latin typeface="Inter"/>
              </a:rPr>
              <a:t>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726" y="4048125"/>
            <a:ext cx="597574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E3A8A"/>
                </a:solidFill>
                <a:latin typeface="Inter"/>
              </a:rPr>
              <a:t>Existing Names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006" y="4352925"/>
            <a:ext cx="5691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3B82F6"/>
                </a:solidFill>
                <a:latin typeface="Inter"/>
              </a:rPr>
              <a:t>Reference target pool across lengths 2–21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9806" y="3238500"/>
            <a:ext cx="5691187" cy="733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F172A"/>
                </a:solidFill>
                <a:latin typeface="Inter"/>
              </a:rPr>
              <a:t>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7526" y="4048125"/>
            <a:ext cx="597574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Test Queries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69806" y="4352925"/>
            <a:ext cx="5691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10 queries per length (140 Positive / 60 Negative)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876550"/>
          <a:ext cx="10972798" cy="20193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199060"/>
                <a:gridCol w="2750343"/>
                <a:gridCol w="2735907"/>
                <a:gridCol w="2287488"/>
              </a:tblGrid>
              <a:tr h="50482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64748B"/>
                          </a:solidFill>
                          <a:latin typeface="Inter"/>
                        </a:rPr>
                        <a:t>Metric Class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64748B"/>
                          </a:solidFill>
                          <a:latin typeface="Inter"/>
                        </a:rPr>
                        <a:t>Positive Cases (140)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64748B"/>
                          </a:solidFill>
                          <a:latin typeface="Inter"/>
                        </a:rPr>
                        <a:t>Negative Cases (60)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64748B"/>
                          </a:solidFill>
                          <a:latin typeface="Inter"/>
                        </a:rPr>
                        <a:t>Total / Accuracy: 89.0%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Matched (Predicted +)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6A34A"/>
                          </a:solidFill>
                          <a:latin typeface="Inter"/>
                        </a:rPr>
                        <a:t>True Positive (TP): 125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DC2626"/>
                          </a:solidFill>
                          <a:latin typeface="Inter"/>
                        </a:rPr>
                        <a:t>False Positive (FP): 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F172A"/>
                          </a:solidFill>
                          <a:latin typeface="Inter"/>
                        </a:rPr>
                        <a:t>Precision: 94.7%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Unmatched (Predicted -)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DC2626"/>
                          </a:solidFill>
                          <a:latin typeface="Inter"/>
                        </a:rPr>
                        <a:t>False Negative (FN): 15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6A34A"/>
                          </a:solidFill>
                          <a:latin typeface="Inter"/>
                        </a:rPr>
                        <a:t>True Negative (TN): 53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F172A"/>
                          </a:solidFill>
                          <a:latin typeface="Inter"/>
                        </a:rPr>
                        <a:t>Recall: 89.3%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2563EB"/>
                          </a:solidFill>
                          <a:latin typeface="Inter"/>
                        </a:rPr>
                        <a:t>Overall Metric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2563EB"/>
                          </a:solidFill>
                          <a:latin typeface="Inter"/>
                        </a:rPr>
                        <a:t>Sensitivity: 89.3%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2563EB"/>
                          </a:solidFill>
                          <a:latin typeface="Inter"/>
                        </a:rPr>
                        <a:t>Specificity: 88.3%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2563EB"/>
                          </a:solidFill>
                          <a:latin typeface="Inter"/>
                        </a:rPr>
                        <a:t>F1-Score: 91.9%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RESULTS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Accuracy &amp; Confusion Matrix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14912" y="4090987"/>
            <a:ext cx="2162175" cy="428625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10200" y="2338387"/>
            <a:ext cx="13716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Inter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6678" y="2681287"/>
            <a:ext cx="9138642" cy="514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FFFFFF"/>
                </a:solidFill>
                <a:latin typeface="Inter"/>
              </a:rPr>
              <a:t>Optimization &amp; Production 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386137"/>
            <a:ext cx="7620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94A3B8"/>
                </a:solidFill>
                <a:latin typeface="Inter"/>
              </a:rPr>
              <a:t>Add a short-name guard and a transliteration equivalence list, then pair BMPM with a string-distance check to cut false positives.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11340" y="4205287"/>
            <a:ext cx="2169318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CBD5E1"/>
                </a:solidFill>
                <a:latin typeface="Inter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